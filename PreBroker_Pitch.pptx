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8" autoAdjust="0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22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169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8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9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85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73152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486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kern="0" spc="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ПРЕ-БРОКЕР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1371600" y="155448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Тренажёр фондового рынка для тех,</a:t>
            </a:r>
            <a:endParaRPr lang="en-US" sz="1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не хочет учиться на реальных потерях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371600" y="2743200"/>
            <a:ext cx="1783080" cy="34747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Text 4"/>
          <p:cNvSpPr/>
          <p:nvPr/>
        </p:nvSpPr>
        <p:spPr>
          <a:xfrm>
            <a:off x="1371600" y="274320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+ FastAPI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91840" y="2743200"/>
            <a:ext cx="1783080" cy="34747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9" name="Text 6"/>
          <p:cNvSpPr/>
          <p:nvPr/>
        </p:nvSpPr>
        <p:spPr>
          <a:xfrm>
            <a:off x="3291840" y="274320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LSTM-прогнозы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212080" y="2743200"/>
            <a:ext cx="1783080" cy="34747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1" name="Text 8"/>
          <p:cNvSpPr/>
          <p:nvPr/>
        </p:nvSpPr>
        <p:spPr>
          <a:xfrm>
            <a:off x="5212080" y="274320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MOEX 2010–2024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132320" y="2743200"/>
            <a:ext cx="1783080" cy="34747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3" name="Text 10"/>
          <p:cNvSpPr/>
          <p:nvPr/>
        </p:nvSpPr>
        <p:spPr>
          <a:xfrm>
            <a:off x="7132320" y="274320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готов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371600" y="42062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Invest MRSU  •  Стартап-студия  •  Март 2026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C853">
              <a:alpha val="1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525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43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ПРОБЛЕМА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0058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«Мы сами открыли брокерский счёт и не понимали, что делаем. Купили акции потому что "говорят растёт". Потеряли. Стали разбираться.»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920240"/>
            <a:ext cx="1920240" cy="155448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57200" y="20116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8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33 млн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594360" y="260604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частных инвесторов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MOEX — каждый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4-й взрослый россиянин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560320" y="1920240"/>
            <a:ext cx="1920240" cy="155448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560320" y="20116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8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2020–22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2697480" y="260604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пришли без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какой-либо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подготовки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663440" y="1920240"/>
            <a:ext cx="1920240" cy="155448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663440" y="20116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52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4800600" y="260604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брокеров учат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торговать грамотно —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 выгодна комиссия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766560" y="1920240"/>
            <a:ext cx="1920240" cy="155448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766560" y="20116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52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6903720" y="260604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русскоязычных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приложений с обучением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реальных данных MOEX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«Людей учат не тому, что купить — а тому как выжить после покупки»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C853">
              <a:alpha val="15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85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43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РЕШЕНИЕ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«Мы сделали игру, в которой учатся торговать по-настоящему»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1554480"/>
            <a:ext cx="8229600" cy="68580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554480"/>
            <a:ext cx="54864" cy="685800"/>
          </a:xfrm>
          <a:prstGeom prst="rect">
            <a:avLst/>
          </a:prstGeom>
          <a:solidFill>
            <a:srgbClr val="00C853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69164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16002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Виртуальный портфель 100 000 ₽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234440" y="1901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Торгуешь реальными данными MOEX, но без риска потерять деньги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57200" y="2377440"/>
            <a:ext cx="8229600" cy="68580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7200" y="2377440"/>
            <a:ext cx="54864" cy="685800"/>
          </a:xfrm>
          <a:prstGeom prst="rect">
            <a:avLst/>
          </a:prstGeom>
          <a:solidFill>
            <a:srgbClr val="00C853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51460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24231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LSTM-модель прогнозов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234440" y="27249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сигналы к покупке, а инструмент — показываем как работает анализ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57200" y="3200400"/>
            <a:ext cx="8229600" cy="68580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457200" y="3200400"/>
            <a:ext cx="54864" cy="685800"/>
          </a:xfrm>
          <a:prstGeom prst="rect">
            <a:avLst/>
          </a:prstGeom>
          <a:solidFill>
            <a:srgbClr val="00C853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33756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34440" y="32461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Исторические кризисы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1234440" y="354787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Купи ГАЗПРОМ в августе 2008 и посмотри что будет. 8 сценариев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457200" y="4023360"/>
            <a:ext cx="8229600" cy="68580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57200" y="4023360"/>
            <a:ext cx="54864" cy="685800"/>
          </a:xfrm>
          <a:prstGeom prst="rect">
            <a:avLst/>
          </a:prstGeom>
          <a:solidFill>
            <a:srgbClr val="00C853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4160520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234440" y="40690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Система уровней RPG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1234440" y="43708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Вместо мечей — знание RSI и P/E. От Наблюдателя до Мастера рынка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C853">
              <a:alpha val="15000"/>
            </a:srgbClr>
          </a:solidFill>
          <a:ln/>
        </p:spPr>
      </p:sp>
      <p:sp>
        <p:nvSpPr>
          <p:cNvPr id="27" name="Text 2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196F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43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ГИПОТЕЗА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051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человек потренировался на кризисе 2008 года в симуляторе — он не запаникует и не продаст всё в убыток, когда рынок упадёт в реальности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 же идея, другой рынок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914400" y="2468880"/>
            <a:ext cx="3200400" cy="54864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24688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Авиация: симуляторы полётов</a:t>
            </a:r>
            <a:endParaRPr lang="en-US" sz="12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2560320"/>
            <a:ext cx="365760" cy="3657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029200" y="2468880"/>
            <a:ext cx="3200400" cy="54864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12" name="Text 8"/>
          <p:cNvSpPr/>
          <p:nvPr/>
        </p:nvSpPr>
        <p:spPr>
          <a:xfrm>
            <a:off x="5029200" y="24688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Пре-Брокер: симулятор торговли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57200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Что измеряем к Demo Day #2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57200" y="3703320"/>
            <a:ext cx="1920240" cy="91440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457200" y="37490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C8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30+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548640" y="41605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живых пользователей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2560320" y="3703320"/>
            <a:ext cx="1920240" cy="91440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2560320" y="37490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C8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≥ 30%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2651760" y="41605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7 дней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4663440" y="3703320"/>
            <a:ext cx="1920240" cy="91440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4663440" y="37490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C8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≥ 40</a:t>
            </a:r>
            <a:endParaRPr lang="en-US" sz="2400" dirty="0"/>
          </a:p>
        </p:txBody>
      </p:sp>
      <p:sp>
        <p:nvSpPr>
          <p:cNvPr id="22" name="Text 18"/>
          <p:cNvSpPr/>
          <p:nvPr/>
        </p:nvSpPr>
        <p:spPr>
          <a:xfrm>
            <a:off x="4754880" y="41605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6766560" y="3703320"/>
            <a:ext cx="1920240" cy="91440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6766560" y="37490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C8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≥ 55%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6858000" y="41605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 симулятора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C853">
              <a:alpha val="15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85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43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ПОЛЬЗА РЕШЕНИЯ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914400"/>
            <a:ext cx="54864" cy="914400"/>
          </a:xfrm>
          <a:prstGeom prst="rect">
            <a:avLst/>
          </a:prstGeom>
          <a:solidFill>
            <a:srgbClr val="00C853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143000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9875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Для пользователя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371600" y="129844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Пройди обвал нефти 2020 тридцать раз — и в тридцать первый уже не паникуешь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57200" y="1965960"/>
            <a:ext cx="8229600" cy="91440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7200" y="1965960"/>
            <a:ext cx="54864" cy="914400"/>
          </a:xfrm>
          <a:prstGeom prst="rect">
            <a:avLst/>
          </a:prstGeom>
          <a:solidFill>
            <a:srgbClr val="2196F3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19456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20391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Для брокера-партнёра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371600" y="235000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умеет торговать → торгует осознаннее → меньше закрывает счёт после просадки → дольше остаётся клиентом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57200" y="3017520"/>
            <a:ext cx="8229600" cy="91440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57200" y="3017520"/>
            <a:ext cx="54864" cy="914400"/>
          </a:xfrm>
          <a:prstGeom prst="rect">
            <a:avLst/>
          </a:prstGeom>
          <a:solidFill>
            <a:srgbClr val="FFC107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24612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309067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Для нас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371600" y="340156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Зарабатываем когда пользователь переходит к реальному брокеру — CPA-модель. Нам выгодно научить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1371600" y="4251960"/>
            <a:ext cx="182880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1" name="Text 15"/>
          <p:cNvSpPr/>
          <p:nvPr/>
        </p:nvSpPr>
        <p:spPr>
          <a:xfrm>
            <a:off x="1371600" y="4251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3200400" y="425196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C853"/>
                </a:solidFill>
              </a:rPr>
              <a:t>→</a:t>
            </a:r>
            <a:endParaRPr lang="en-US" sz="2000" dirty="0"/>
          </a:p>
        </p:txBody>
      </p:sp>
      <p:sp>
        <p:nvSpPr>
          <p:cNvPr id="23" name="Shape 17"/>
          <p:cNvSpPr/>
          <p:nvPr/>
        </p:nvSpPr>
        <p:spPr>
          <a:xfrm>
            <a:off x="4114800" y="4251960"/>
            <a:ext cx="1828800" cy="411480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24" name="Text 18"/>
          <p:cNvSpPr/>
          <p:nvPr/>
        </p:nvSpPr>
        <p:spPr>
          <a:xfrm>
            <a:off x="4114800" y="4251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Пре-Брокер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943600" y="425196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C853"/>
                </a:solidFill>
              </a:rPr>
              <a:t>→</a:t>
            </a:r>
            <a:endParaRPr lang="en-US" sz="2000" dirty="0"/>
          </a:p>
        </p:txBody>
      </p:sp>
      <p:sp>
        <p:nvSpPr>
          <p:cNvPr id="26" name="Shape 20"/>
          <p:cNvSpPr/>
          <p:nvPr/>
        </p:nvSpPr>
        <p:spPr>
          <a:xfrm>
            <a:off x="6858000" y="4251960"/>
            <a:ext cx="182880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7" name="Text 21"/>
          <p:cNvSpPr/>
          <p:nvPr/>
        </p:nvSpPr>
        <p:spPr>
          <a:xfrm>
            <a:off x="6858000" y="4251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Реальный Брокер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C853">
              <a:alpha val="15000"/>
            </a:srgbClr>
          </a:solidFill>
          <a:ln/>
        </p:spPr>
      </p:sp>
      <p:sp>
        <p:nvSpPr>
          <p:cNvPr id="29" name="Text 2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196F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43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ВОТ ЧТО УЖЕ РАБОТАЕТ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3931920" cy="118872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325880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80160" y="1143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Дашборд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1280160" y="15544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Баланс портфеля, топ-акции дня, общая доходность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4663440" y="1005840"/>
            <a:ext cx="3931920" cy="118872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1325880"/>
            <a:ext cx="457200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86400" y="1143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Акции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5486400" y="15544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Графики с LSTM-прогнозом, горизонт 1 день / 1 неделя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457200" y="2423160"/>
            <a:ext cx="3931920" cy="118872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2743200"/>
            <a:ext cx="457200" cy="457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80160" y="2560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Портфель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1280160" y="29718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сделок, P&amp;L по каждой позиции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4663440" y="2423160"/>
            <a:ext cx="3931920" cy="118872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2743200"/>
            <a:ext cx="457200" cy="4572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486400" y="2560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Задания</a:t>
            </a:r>
            <a:endParaRPr lang="en-US" sz="1500" dirty="0"/>
          </a:p>
        </p:txBody>
      </p:sp>
      <p:sp>
        <p:nvSpPr>
          <p:cNvPr id="20" name="Text 13"/>
          <p:cNvSpPr/>
          <p:nvPr/>
        </p:nvSpPr>
        <p:spPr>
          <a:xfrm>
            <a:off x="5486400" y="29718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Обучающие миссии с наградами: 500 ₽ за первую сделку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2" name="Text 15"/>
          <p:cNvSpPr/>
          <p:nvPr/>
        </p:nvSpPr>
        <p:spPr>
          <a:xfrm>
            <a:off x="640080" y="402336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Flutter-приложение сейчас работает на mock-данных. Бэкенд и ML уже готовы — следующий шаг соединить их.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C853">
              <a:alpha val="15000"/>
            </a:srgbClr>
          </a:solidFill>
          <a:ln/>
        </p:spPr>
      </p:sp>
      <p:sp>
        <p:nvSpPr>
          <p:cNvPr id="24" name="Text 1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85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43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ЧТО ЕСТЬ, ЧЕГО НЕТ — ЧЕСТНО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solidFill>
            <a:srgbClr val="1C2333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51560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5840" y="10058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Flutter-приложение (4 таба, навигация, все экраны)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498080" y="10058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Готово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57200" y="1444752"/>
            <a:ext cx="8229600" cy="365760"/>
          </a:xfrm>
          <a:prstGeom prst="rect">
            <a:avLst/>
          </a:prstGeom>
          <a:solidFill>
            <a:srgbClr val="161B22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90472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05840" y="144475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FastAPI-бэкенд (5 эндпоинтов, документация)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7498080" y="144475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Готово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457200" y="1883664"/>
            <a:ext cx="8229600" cy="365760"/>
          </a:xfrm>
          <a:prstGeom prst="rect">
            <a:avLst/>
          </a:prstGeom>
          <a:solidFill>
            <a:srgbClr val="1C2333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29384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05840" y="1883664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LSTM-модель (17 признаков, 60 дней истории)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7498080" y="1883664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Готово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457200" y="2322576"/>
            <a:ext cx="8229600" cy="365760"/>
          </a:xfrm>
          <a:prstGeom prst="rect">
            <a:avLst/>
          </a:prstGeom>
          <a:solidFill>
            <a:srgbClr val="161B22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68296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05840" y="232257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(4 таблицы, данные MOEX 2010–2024)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7498080" y="2322576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Готово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457200" y="2761488"/>
            <a:ext cx="8229600" cy="365760"/>
          </a:xfrm>
          <a:prstGeom prst="rect">
            <a:avLst/>
          </a:prstGeom>
          <a:solidFill>
            <a:srgbClr val="1C2333"/>
          </a:solidFill>
          <a:ln/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807208"/>
            <a:ext cx="274320" cy="27432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005840" y="276148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деплой</a:t>
            </a:r>
            <a:endParaRPr lang="en-US" sz="1200" dirty="0"/>
          </a:p>
        </p:txBody>
      </p:sp>
      <p:sp>
        <p:nvSpPr>
          <p:cNvPr id="24" name="Text 16"/>
          <p:cNvSpPr/>
          <p:nvPr/>
        </p:nvSpPr>
        <p:spPr>
          <a:xfrm>
            <a:off x="7498080" y="276148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Готово</a:t>
            </a:r>
            <a:endParaRPr lang="en-US" sz="1000" dirty="0"/>
          </a:p>
        </p:txBody>
      </p:sp>
      <p:sp>
        <p:nvSpPr>
          <p:cNvPr id="25" name="Shape 17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solidFill>
            <a:srgbClr val="161B22"/>
          </a:solidFill>
          <a:ln/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246120"/>
            <a:ext cx="274320" cy="27432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1005840" y="32004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подключён к реальному бэкенду</a:t>
            </a:r>
            <a:endParaRPr lang="en-US" sz="1200" dirty="0"/>
          </a:p>
        </p:txBody>
      </p:sp>
      <p:sp>
        <p:nvSpPr>
          <p:cNvPr id="28" name="Text 19"/>
          <p:cNvSpPr/>
          <p:nvPr/>
        </p:nvSpPr>
        <p:spPr>
          <a:xfrm>
            <a:off x="7498080" y="32004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работе</a:t>
            </a:r>
            <a:endParaRPr lang="en-US" sz="1000" dirty="0"/>
          </a:p>
        </p:txBody>
      </p:sp>
      <p:sp>
        <p:nvSpPr>
          <p:cNvPr id="29" name="Shape 20"/>
          <p:cNvSpPr/>
          <p:nvPr/>
        </p:nvSpPr>
        <p:spPr>
          <a:xfrm>
            <a:off x="457200" y="3639312"/>
            <a:ext cx="8229600" cy="365760"/>
          </a:xfrm>
          <a:prstGeom prst="rect">
            <a:avLst/>
          </a:prstGeom>
          <a:solidFill>
            <a:srgbClr val="1C2333"/>
          </a:solidFill>
          <a:ln/>
        </p:spPr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685032"/>
            <a:ext cx="274320" cy="27432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1005840" y="363931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Авторизация (JWT)</a:t>
            </a:r>
            <a:endParaRPr lang="en-US" sz="1200" dirty="0"/>
          </a:p>
        </p:txBody>
      </p:sp>
      <p:sp>
        <p:nvSpPr>
          <p:cNvPr id="32" name="Text 22"/>
          <p:cNvSpPr/>
          <p:nvPr/>
        </p:nvSpPr>
        <p:spPr>
          <a:xfrm>
            <a:off x="7498080" y="363931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работе</a:t>
            </a:r>
            <a:endParaRPr lang="en-US" sz="1000" dirty="0"/>
          </a:p>
        </p:txBody>
      </p:sp>
      <p:sp>
        <p:nvSpPr>
          <p:cNvPr id="33" name="Shape 23"/>
          <p:cNvSpPr/>
          <p:nvPr/>
        </p:nvSpPr>
        <p:spPr>
          <a:xfrm>
            <a:off x="457200" y="4078224"/>
            <a:ext cx="8229600" cy="365760"/>
          </a:xfrm>
          <a:prstGeom prst="rect">
            <a:avLst/>
          </a:prstGeom>
          <a:solidFill>
            <a:srgbClr val="161B22"/>
          </a:solidFill>
          <a:ln/>
        </p:spPr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123944"/>
            <a:ext cx="274320" cy="274320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1005840" y="4078224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Автообновление данных каждую ночь</a:t>
            </a:r>
            <a:endParaRPr lang="en-US" sz="1200" dirty="0"/>
          </a:p>
        </p:txBody>
      </p:sp>
      <p:sp>
        <p:nvSpPr>
          <p:cNvPr id="36" name="Text 25"/>
          <p:cNvSpPr/>
          <p:nvPr/>
        </p:nvSpPr>
        <p:spPr>
          <a:xfrm>
            <a:off x="7498080" y="4078224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работе</a:t>
            </a:r>
            <a:endParaRPr lang="en-US" sz="1000" dirty="0"/>
          </a:p>
        </p:txBody>
      </p:sp>
      <p:sp>
        <p:nvSpPr>
          <p:cNvPr id="37" name="Text 26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8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«Всё сделано одним человеком. Все части есть — задача собрать и масштабировать команду.»</a:t>
            </a:r>
            <a:endParaRPr lang="en-US" sz="1400" dirty="0"/>
          </a:p>
        </p:txBody>
      </p:sp>
      <p:sp>
        <p:nvSpPr>
          <p:cNvPr id="38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C853">
              <a:alpha val="15000"/>
            </a:srgbClr>
          </a:solidFill>
          <a:ln/>
        </p:spPr>
      </p:sp>
      <p:sp>
        <p:nvSpPr>
          <p:cNvPr id="39" name="Text 2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196F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43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КТО ЕЩЁ ЕСТЬ НА РЫНКЕ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224028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Продукт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Обучение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Кризисы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Без денег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Тинькофф Инвестиции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5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5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5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5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Сбер Инвестор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5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5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5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5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ВТБ Мои Инвестиции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5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5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5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5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Investoria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C10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5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F5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C8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C8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Пре-Брокер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8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C8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8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C8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8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C8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8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C8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8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Международные: Robinhood, eToro — реальные деньги, не российский рынок. Trading212 — есть демо, но нет обучения и нет MOEX.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Investoria — ближайший аналог, но не обновлялся с 2019. Мы делаем то же, только с реальными данными MOEX и ML.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C853">
              <a:alpha val="15000"/>
            </a:srgbClr>
          </a:solidFill>
          <a:ln/>
        </p:spPr>
      </p:sp>
      <p:sp>
        <p:nvSpPr>
          <p:cNvPr id="5" name="Text 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85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43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ЦИФРЫ БЕЗ ПРИКРАС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65760" y="1005840"/>
            <a:ext cx="2743200" cy="365760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1005840"/>
            <a:ext cx="2743200" cy="54864"/>
          </a:xfrm>
          <a:prstGeom prst="rect">
            <a:avLst/>
          </a:prstGeom>
          <a:solidFill>
            <a:srgbClr val="00C853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18872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1737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ML-модель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548640" y="2194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2 слоя: 128 → 64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548640" y="24871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признаков (цена, MA, RSI, MACD, Bollinger)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548640" y="27797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~175 000 примеров (MOEX 2010–2024)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548640" y="30723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 направления: целевая ≥ 55%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548640" y="3364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Обновление прогнозов: 03:00 МСК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246120" y="1005840"/>
            <a:ext cx="2743200" cy="365760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246120" y="1005840"/>
            <a:ext cx="2743200" cy="54864"/>
          </a:xfrm>
          <a:prstGeom prst="rect">
            <a:avLst/>
          </a:prstGeom>
          <a:solidFill>
            <a:srgbClr val="FFC107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18872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383280" y="1737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Образование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3429000" y="2194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урока, 32 теста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3429000" y="24871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месяца программа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3429000" y="27797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исторических сценариев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3429000" y="30723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(дефолт 1998, кризис 2008, санкции 2014, нефть 2020)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3429000" y="3364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уровней: Наблюдатель → Мастер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126480" y="1005840"/>
            <a:ext cx="2743200" cy="365760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126480" y="1005840"/>
            <a:ext cx="2743200" cy="54864"/>
          </a:xfrm>
          <a:prstGeom prst="rect">
            <a:avLst/>
          </a:prstGeom>
          <a:solidFill>
            <a:srgbClr val="2196F3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1188720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263640" y="1737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Инфраструктура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6309360" y="2194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(iOS — след. этап)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6309360" y="24871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Оффлайн-режим для уроков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6309360" y="27797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VPS 2 vCPU / 4 GB RAM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6309360" y="30723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Docker-деплой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6309360" y="3364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→ FastAPI → PostgreSQL + LSTM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C853">
              <a:alpha val="15000"/>
            </a:srgbClr>
          </a:solidFill>
          <a:ln/>
        </p:spPr>
      </p:sp>
      <p:sp>
        <p:nvSpPr>
          <p:cNvPr id="33" name="Text 2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85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43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ЧТО И КОГДА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2103120"/>
            <a:ext cx="8229600" cy="36576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6" name="Shape 3"/>
          <p:cNvSpPr/>
          <p:nvPr/>
        </p:nvSpPr>
        <p:spPr>
          <a:xfrm>
            <a:off x="960120" y="1920240"/>
            <a:ext cx="365760" cy="365760"/>
          </a:xfrm>
          <a:prstGeom prst="line">
            <a:avLst/>
          </a:prstGeom>
          <a:solidFill>
            <a:srgbClr val="00C853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05156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Сейчас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март 2026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2468880"/>
            <a:ext cx="1554480" cy="109728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251460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готов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части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порознь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651760" y="1920240"/>
            <a:ext cx="365760" cy="365760"/>
          </a:xfrm>
          <a:prstGeom prst="line">
            <a:avLst/>
          </a:prstGeom>
          <a:solidFill>
            <a:srgbClr val="2196F3"/>
          </a:solidFill>
          <a:ln/>
        </p:spPr>
      </p:sp>
      <p:sp>
        <p:nvSpPr>
          <p:cNvPr id="11" name="Text 8"/>
          <p:cNvSpPr/>
          <p:nvPr/>
        </p:nvSpPr>
        <p:spPr>
          <a:xfrm>
            <a:off x="2148840" y="105156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Нед. 8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Day #1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148840" y="2468880"/>
            <a:ext cx="1554480" cy="109728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13" name="Text 10"/>
          <p:cNvSpPr/>
          <p:nvPr/>
        </p:nvSpPr>
        <p:spPr>
          <a:xfrm>
            <a:off x="2240280" y="251460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Реальные данные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Авторизация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уроков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343400" y="1920240"/>
            <a:ext cx="365760" cy="365760"/>
          </a:xfrm>
          <a:prstGeom prst="line">
            <a:avLst/>
          </a:prstGeom>
          <a:solidFill>
            <a:srgbClr val="2196F3"/>
          </a:solidFill>
          <a:ln/>
        </p:spPr>
      </p:sp>
      <p:sp>
        <p:nvSpPr>
          <p:cNvPr id="15" name="Text 12"/>
          <p:cNvSpPr/>
          <p:nvPr/>
        </p:nvSpPr>
        <p:spPr>
          <a:xfrm>
            <a:off x="3840480" y="105156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Нед. 13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Бета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840480" y="2468880"/>
            <a:ext cx="1554480" cy="109728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17" name="Text 14"/>
          <p:cNvSpPr/>
          <p:nvPr/>
        </p:nvSpPr>
        <p:spPr>
          <a:xfrm>
            <a:off x="3931920" y="251460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тестеров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сценариев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Push-уведомл.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035040" y="1920240"/>
            <a:ext cx="365760" cy="365760"/>
          </a:xfrm>
          <a:prstGeom prst="line">
            <a:avLst/>
          </a:prstGeom>
          <a:solidFill>
            <a:srgbClr val="00C853"/>
          </a:solidFill>
          <a:ln/>
        </p:spPr>
      </p:sp>
      <p:sp>
        <p:nvSpPr>
          <p:cNvPr id="19" name="Text 16"/>
          <p:cNvSpPr/>
          <p:nvPr/>
        </p:nvSpPr>
        <p:spPr>
          <a:xfrm>
            <a:off x="5532120" y="105156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Нед. 17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Day #2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532120" y="2468880"/>
            <a:ext cx="1554480" cy="109728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21" name="Text 18"/>
          <p:cNvSpPr/>
          <p:nvPr/>
        </p:nvSpPr>
        <p:spPr>
          <a:xfrm>
            <a:off x="5623560" y="251460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Play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уроков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≥ 40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726680" y="1920240"/>
            <a:ext cx="365760" cy="365760"/>
          </a:xfrm>
          <a:prstGeom prst="line">
            <a:avLst/>
          </a:prstGeom>
          <a:solidFill>
            <a:srgbClr val="FFC107"/>
          </a:solidFill>
          <a:ln/>
        </p:spPr>
      </p:sp>
      <p:sp>
        <p:nvSpPr>
          <p:cNvPr id="23" name="Text 20"/>
          <p:cNvSpPr/>
          <p:nvPr/>
        </p:nvSpPr>
        <p:spPr>
          <a:xfrm>
            <a:off x="7223760" y="105156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Осень 2026+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223760" y="2468880"/>
            <a:ext cx="1554480" cy="109728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25" name="Text 22"/>
          <p:cNvSpPr/>
          <p:nvPr/>
        </p:nvSpPr>
        <p:spPr>
          <a:xfrm>
            <a:off x="7315200" y="251460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Партнёрство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10 000+ юзеров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«Demo Day #2 — это не конец, это начало. Дальше pre-seed и партнёрства с брокерами.»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C853">
              <a:alpha val="15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196F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43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ЧТО НАМ НУЖНО ОТ СТУДИИ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033272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88720" y="9601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Обеспечение до 1 000 000 ₽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1188720" y="125272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Команда, инфраструктура, юридика. Детальная смета — на следующем слайде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457200" y="1691640"/>
            <a:ext cx="8229600" cy="64008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810512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88720" y="17373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Команда — 4–5 человек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1188720" y="202996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Фронтенд, бэкенд, ML-инженеры, консультант по контенту заданий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457200" y="2468880"/>
            <a:ext cx="8229600" cy="64008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2587752"/>
            <a:ext cx="365760" cy="3657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88720" y="25146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Ментор из fintech / edtech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1188720" y="280720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лекции, а честная обратная связь от человека с опытом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457200" y="3246120"/>
            <a:ext cx="8229600" cy="64008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3364992"/>
            <a:ext cx="365760" cy="36576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88720" y="32918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Юрист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1188720" y="358444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ФЗ-152, оферта, политика конфиденциальности — один раз сделать правильно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4142232"/>
            <a:ext cx="365760" cy="36576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188720" y="40690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Контакты брокеров</a:t>
            </a:r>
            <a:endParaRPr lang="en-US" sz="1300" dirty="0"/>
          </a:p>
        </p:txBody>
      </p:sp>
      <p:sp>
        <p:nvSpPr>
          <p:cNvPr id="24" name="Text 16"/>
          <p:cNvSpPr/>
          <p:nvPr/>
        </p:nvSpPr>
        <p:spPr>
          <a:xfrm>
            <a:off x="1188720" y="436168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 на Тинькофф / ВТБ / Альфа для разговора о CPA-партнёрстве</a:t>
            </a:r>
            <a:endParaRPr lang="en-US" sz="1100" dirty="0"/>
          </a:p>
        </p:txBody>
      </p:sp>
      <p:sp>
        <p:nvSpPr>
          <p:cNvPr id="25" name="Shape 1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C853">
              <a:alpha val="15000"/>
            </a:srgbClr>
          </a:solidFill>
          <a:ln/>
        </p:spPr>
      </p:sp>
      <p:sp>
        <p:nvSpPr>
          <p:cNvPr id="26" name="Text 1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85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43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ЭКОНОМИЧЕСКИЙ АУДИТ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82880" y="9144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Стипендии команде</a:t>
            </a:r>
            <a:endParaRPr lang="en-US" sz="900" dirty="0"/>
          </a:p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 чел × 30K × 5 мес)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2377440" y="996696"/>
            <a:ext cx="2011680" cy="219456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7" name="Text 4"/>
          <p:cNvSpPr/>
          <p:nvPr/>
        </p:nvSpPr>
        <p:spPr>
          <a:xfrm>
            <a:off x="4434840" y="91440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600K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82880" y="138988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Резерв ~20%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377440" y="1472184"/>
            <a:ext cx="559918" cy="219456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10" name="Text 7"/>
          <p:cNvSpPr/>
          <p:nvPr/>
        </p:nvSpPr>
        <p:spPr>
          <a:xfrm>
            <a:off x="2983078" y="138988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167K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82880" y="186537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Консультант по</a:t>
            </a:r>
            <a:endParaRPr lang="en-US" sz="900" dirty="0"/>
          </a:p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контенту (разово)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377440" y="1947672"/>
            <a:ext cx="268224" cy="219456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13" name="Text 10"/>
          <p:cNvSpPr/>
          <p:nvPr/>
        </p:nvSpPr>
        <p:spPr>
          <a:xfrm>
            <a:off x="2691384" y="186537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80K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82880" y="234086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Юрист (ФЗ-152,</a:t>
            </a:r>
            <a:endParaRPr lang="en-US" sz="900" dirty="0"/>
          </a:p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оферта, ИП)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377440" y="2423160"/>
            <a:ext cx="117348" cy="219456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16" name="Text 13"/>
          <p:cNvSpPr/>
          <p:nvPr/>
        </p:nvSpPr>
        <p:spPr>
          <a:xfrm>
            <a:off x="2540508" y="234086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35K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82880" y="281635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Маркетинг,</a:t>
            </a:r>
            <a:endParaRPr lang="en-US" sz="900" dirty="0"/>
          </a:p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тесты, Demo Day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377440" y="2898648"/>
            <a:ext cx="100584" cy="219456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19" name="Text 16"/>
          <p:cNvSpPr/>
          <p:nvPr/>
        </p:nvSpPr>
        <p:spPr>
          <a:xfrm>
            <a:off x="2523744" y="281635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30K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82880" y="32918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Транспорт,</a:t>
            </a:r>
            <a:endParaRPr lang="en-US" sz="900" dirty="0"/>
          </a:p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связь, прочее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2377440" y="3374136"/>
            <a:ext cx="50292" cy="219456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22" name="Text 19"/>
          <p:cNvSpPr/>
          <p:nvPr/>
        </p:nvSpPr>
        <p:spPr>
          <a:xfrm>
            <a:off x="2473452" y="329184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15K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82880" y="376732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Инфра (VPS, домен,</a:t>
            </a:r>
            <a:endParaRPr lang="en-US" sz="900" dirty="0"/>
          </a:p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Play)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2377440" y="3849624"/>
            <a:ext cx="43586" cy="219456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25" name="Text 22"/>
          <p:cNvSpPr/>
          <p:nvPr/>
        </p:nvSpPr>
        <p:spPr>
          <a:xfrm>
            <a:off x="2466746" y="376732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13K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274320" y="4343400"/>
            <a:ext cx="384048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7" name="Text 24"/>
          <p:cNvSpPr/>
          <p:nvPr/>
        </p:nvSpPr>
        <p:spPr>
          <a:xfrm>
            <a:off x="274320" y="43434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8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Итого: ≤ 1 000 000 ₽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5303520" y="868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Набираю команду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5303520" y="1234440"/>
            <a:ext cx="338328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0" name="Text 27"/>
          <p:cNvSpPr/>
          <p:nvPr/>
        </p:nvSpPr>
        <p:spPr>
          <a:xfrm>
            <a:off x="5394960" y="12344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Сейчас работаю один. Весь MVP — solo.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303520" y="1828800"/>
            <a:ext cx="3383280" cy="384048"/>
          </a:xfrm>
          <a:prstGeom prst="rect">
            <a:avLst/>
          </a:prstGeom>
          <a:solidFill>
            <a:srgbClr val="1C2333"/>
          </a:solidFill>
          <a:ln/>
        </p:spPr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1892808"/>
            <a:ext cx="256032" cy="256032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5760720" y="18288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Фронтенд (Flutter)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7589520" y="182880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20–25 ч/нед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5303520" y="2286000"/>
            <a:ext cx="3383280" cy="384048"/>
          </a:xfrm>
          <a:prstGeom prst="rect">
            <a:avLst/>
          </a:prstGeom>
          <a:solidFill>
            <a:srgbClr val="1C2333"/>
          </a:solidFill>
          <a:ln/>
        </p:spPr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2350008"/>
            <a:ext cx="256032" cy="256032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5760720" y="22860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Бэкенд (Python/FastAPI)</a:t>
            </a:r>
            <a:endParaRPr lang="en-US" sz="1000" dirty="0"/>
          </a:p>
        </p:txBody>
      </p:sp>
      <p:sp>
        <p:nvSpPr>
          <p:cNvPr id="38" name="Text 33"/>
          <p:cNvSpPr/>
          <p:nvPr/>
        </p:nvSpPr>
        <p:spPr>
          <a:xfrm>
            <a:off x="7589520" y="228600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20–25 ч/нед</a:t>
            </a:r>
            <a:endParaRPr lang="en-US" sz="900" dirty="0"/>
          </a:p>
        </p:txBody>
      </p:sp>
      <p:sp>
        <p:nvSpPr>
          <p:cNvPr id="39" name="Shape 34"/>
          <p:cNvSpPr/>
          <p:nvPr/>
        </p:nvSpPr>
        <p:spPr>
          <a:xfrm>
            <a:off x="5303520" y="2743200"/>
            <a:ext cx="3383280" cy="384048"/>
          </a:xfrm>
          <a:prstGeom prst="rect">
            <a:avLst/>
          </a:prstGeom>
          <a:solidFill>
            <a:srgbClr val="1C2333"/>
          </a:solidFill>
          <a:ln/>
        </p:spPr>
      </p:sp>
      <p:pic>
        <p:nvPicPr>
          <p:cNvPr id="4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2807208"/>
            <a:ext cx="256032" cy="256032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5760720" y="27432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ML-инженер (LSTM)</a:t>
            </a:r>
            <a:endParaRPr lang="en-US" sz="1000" dirty="0"/>
          </a:p>
        </p:txBody>
      </p:sp>
      <p:sp>
        <p:nvSpPr>
          <p:cNvPr id="42" name="Text 36"/>
          <p:cNvSpPr/>
          <p:nvPr/>
        </p:nvSpPr>
        <p:spPr>
          <a:xfrm>
            <a:off x="7589520" y="274320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15–20 ч/нед</a:t>
            </a:r>
            <a:endParaRPr lang="en-US" sz="900" dirty="0"/>
          </a:p>
        </p:txBody>
      </p:sp>
      <p:sp>
        <p:nvSpPr>
          <p:cNvPr id="43" name="Shape 37"/>
          <p:cNvSpPr/>
          <p:nvPr/>
        </p:nvSpPr>
        <p:spPr>
          <a:xfrm>
            <a:off x="5303520" y="3200400"/>
            <a:ext cx="3383280" cy="384048"/>
          </a:xfrm>
          <a:prstGeom prst="rect">
            <a:avLst/>
          </a:prstGeom>
          <a:solidFill>
            <a:srgbClr val="1C2333"/>
          </a:solidFill>
          <a:ln/>
        </p:spPr>
      </p:sp>
      <p:pic>
        <p:nvPicPr>
          <p:cNvPr id="4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3264408"/>
            <a:ext cx="256032" cy="256032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5760720" y="32004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Консультант контента</a:t>
            </a:r>
            <a:endParaRPr lang="en-US" sz="1000" dirty="0"/>
          </a:p>
        </p:txBody>
      </p:sp>
      <p:sp>
        <p:nvSpPr>
          <p:cNvPr id="46" name="Text 39"/>
          <p:cNvSpPr/>
          <p:nvPr/>
        </p:nvSpPr>
        <p:spPr>
          <a:xfrm>
            <a:off x="7589520" y="320040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Разово</a:t>
            </a:r>
            <a:endParaRPr lang="en-US" sz="900" dirty="0"/>
          </a:p>
        </p:txBody>
      </p:sp>
      <p:sp>
        <p:nvSpPr>
          <p:cNvPr id="47" name="Text 40"/>
          <p:cNvSpPr/>
          <p:nvPr/>
        </p:nvSpPr>
        <p:spPr>
          <a:xfrm>
            <a:off x="5303520" y="37490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возможен 5-й участник (QA / DevOps)</a:t>
            </a:r>
            <a:endParaRPr lang="en-US" sz="1000" dirty="0"/>
          </a:p>
        </p:txBody>
      </p:sp>
      <p:sp>
        <p:nvSpPr>
          <p:cNvPr id="48" name="Text 41"/>
          <p:cNvSpPr/>
          <p:nvPr/>
        </p:nvSpPr>
        <p:spPr>
          <a:xfrm>
            <a:off x="5303520" y="4023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GPU: Google Colab + Kaggle — бесплатно</a:t>
            </a:r>
            <a:endParaRPr lang="en-US" sz="1000" dirty="0"/>
          </a:p>
        </p:txBody>
      </p:sp>
      <p:sp>
        <p:nvSpPr>
          <p:cNvPr id="49" name="Text 42"/>
          <p:cNvSpPr/>
          <p:nvPr/>
        </p:nvSpPr>
        <p:spPr>
          <a:xfrm>
            <a:off x="5303520" y="42976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 — поиск доп. финансирования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C853">
              <a:alpha val="15000"/>
            </a:srgbClr>
          </a:solidFill>
          <a:ln/>
        </p:spPr>
      </p:sp>
      <p:sp>
        <p:nvSpPr>
          <p:cNvPr id="51" name="Text 4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85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43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КАК ЗАРАБАТЫВАЕМ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65760" y="914400"/>
            <a:ext cx="2743200" cy="210312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914400"/>
            <a:ext cx="2743200" cy="54864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1097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Подписка Freemium (B2C)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1554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Бесплатно: базовые уроки, 2 сценария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48640" y="1874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299 ₽/мес: все уроки + LSTM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48640" y="2194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599 ₽/мес: AI-разбор ошибок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46120" y="914400"/>
            <a:ext cx="2743200" cy="210312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914400"/>
            <a:ext cx="2743200" cy="54864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3" name="Text 10"/>
          <p:cNvSpPr/>
          <p:nvPr/>
        </p:nvSpPr>
        <p:spPr>
          <a:xfrm>
            <a:off x="3383280" y="1097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CPA с брокерами (B2B2C)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429000" y="1554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 дозрел → переходит к брокеру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429000" y="1874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1 500–3 000 ₽ за активного клиента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429000" y="2194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от 10 000 юзеров = 2 млн ₽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126480" y="914400"/>
            <a:ext cx="2743200" cy="210312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126480" y="914400"/>
            <a:ext cx="274320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19" name="Text 16"/>
          <p:cNvSpPr/>
          <p:nvPr/>
        </p:nvSpPr>
        <p:spPr>
          <a:xfrm>
            <a:off x="6263640" y="1097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White-label (B2B)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309360" y="1554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Продаём платформу под бренд брокера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309360" y="1874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Лицензия 500 000–2 000 000 ₽/год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309360" y="2194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Клиенты: рег. брокеры, НПФ, вузы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57200" y="3291840"/>
            <a:ext cx="8229600" cy="11887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4" name="Text 21"/>
          <p:cNvSpPr/>
          <p:nvPr/>
        </p:nvSpPr>
        <p:spPr>
          <a:xfrm>
            <a:off x="640080" y="3337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Консервативный прогноз: 12 мес. после запуска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822960" y="3749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Pro × 299 ₽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114800" y="3749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149 500 ₽/мес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22960" y="4069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CPA × 2 000 ₽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114800" y="4069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400 000 ₽/мес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400800" y="356616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8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~550 000 ₽/мес</a:t>
            </a:r>
            <a:endParaRPr lang="en-US" sz="2800" dirty="0"/>
          </a:p>
        </p:txBody>
      </p:sp>
      <p:sp>
        <p:nvSpPr>
          <p:cNvPr id="30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C853">
              <a:alpha val="15000"/>
            </a:srgbClr>
          </a:solidFill>
          <a:ln/>
        </p:spPr>
      </p:sp>
      <p:sp>
        <p:nvSpPr>
          <p:cNvPr id="31" name="Text 2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196F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43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КОМАНДА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Весь MVP сделан одним человеком. Это не слабость — это доказательство что проект реален.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74320" y="1424272"/>
            <a:ext cx="8229600" cy="100584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371600"/>
            <a:ext cx="73152" cy="1005840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1554480"/>
            <a:ext cx="594360" cy="594360"/>
          </a:xfrm>
          <a:prstGeom prst="line">
            <a:avLst/>
          </a:prstGeom>
          <a:solidFill>
            <a:srgbClr val="161B22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15544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C8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Я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55448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Маклаков Сергей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554480" y="17373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Основатель  •  DevOps  •  QA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554480" y="20116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• FastAPI • Flutter • TensorFlow • Docker • PostgreSQL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00800" y="146304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Основатель и единственный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разработчик MVP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2606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Набираю 4–5 человек: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3017520"/>
            <a:ext cx="8229600" cy="402336"/>
          </a:xfrm>
          <a:prstGeom prst="rect">
            <a:avLst/>
          </a:prstGeom>
          <a:solidFill>
            <a:srgbClr val="1C2333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090672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60120" y="301752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Фронтенд-разработчик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291840" y="3017520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 •  Dart  •  UI/UX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6766560" y="301752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Мобильная часть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457200" y="3493008"/>
            <a:ext cx="8229600" cy="402336"/>
          </a:xfrm>
          <a:prstGeom prst="rect">
            <a:avLst/>
          </a:prstGeom>
          <a:solidFill>
            <a:srgbClr val="161B22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566160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60120" y="349300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Бэкенд-разработчик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3291840" y="3493008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•  FastAPI  •  PostgreSQL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6766560" y="349300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данные MOEX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457200" y="3968496"/>
            <a:ext cx="8229600" cy="402336"/>
          </a:xfrm>
          <a:prstGeom prst="rect">
            <a:avLst/>
          </a:prstGeom>
          <a:solidFill>
            <a:srgbClr val="1C2333"/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041648"/>
            <a:ext cx="256032" cy="25603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60120" y="396849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ML-инженер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3291840" y="3968496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 •  LSTM  •  Pandas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6766560" y="396849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Модели + прогнозы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457200" y="4443984"/>
            <a:ext cx="8229600" cy="402336"/>
          </a:xfrm>
          <a:prstGeom prst="rect">
            <a:avLst/>
          </a:prstGeom>
          <a:solidFill>
            <a:srgbClr val="161B22"/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517136"/>
            <a:ext cx="256032" cy="25603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60120" y="444398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Консультант по контенту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3291840" y="4443984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Финансы  •  Копирайт  •  Методология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6766560" y="4443984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урока + сценарии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C853">
              <a:alpha val="15000"/>
            </a:srgbClr>
          </a:solidFill>
          <a:ln/>
        </p:spPr>
      </p:sp>
      <p:sp>
        <p:nvSpPr>
          <p:cNvPr id="36" name="Text 2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00C8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33 000 000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новых инвесторов учатся на своих деньгах.</a:t>
            </a:r>
            <a:endParaRPr lang="en-US" sz="2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хотим это изменить.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371600" y="2834640"/>
            <a:ext cx="228600" cy="228600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0" y="27889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Продолжить разработку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3291840"/>
            <a:ext cx="228600" cy="228600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0" y="32461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17 недель: приложение в Google Play, метрики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371600" y="3749040"/>
            <a:ext cx="228600" cy="228600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11" name="Text 9"/>
          <p:cNvSpPr/>
          <p:nvPr/>
        </p:nvSpPr>
        <p:spPr>
          <a:xfrm>
            <a:off x="1828800" y="37033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Дальше: pre-seed, брокерские партнёрства, масштаб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371600" y="4023360"/>
            <a:ext cx="6400800" cy="64008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40233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invest-mrsu  •  Email: segatkd@bk.ru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1233</Words>
  <Application>Microsoft Office PowerPoint</Application>
  <PresentationFormat>Экран (16:9)</PresentationFormat>
  <Paragraphs>290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9" baseType="lpstr">
      <vt:lpstr>Arial</vt:lpstr>
      <vt:lpstr>Calibri</vt:lpstr>
      <vt:lpstr>Trebuchet MS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Пре-Брокер — Питч для Стартап-Студии</dc:title>
  <dc:subject>PptxGenJS Presentation</dc:subject>
  <dc:creator>Команда Пре-Брокер</dc:creator>
  <cp:lastModifiedBy>Сергей Маклаков</cp:lastModifiedBy>
  <cp:revision>4</cp:revision>
  <dcterms:created xsi:type="dcterms:W3CDTF">2026-03-25T11:35:14Z</dcterms:created>
  <dcterms:modified xsi:type="dcterms:W3CDTF">2026-03-25T11:40:19Z</dcterms:modified>
</cp:coreProperties>
</file>